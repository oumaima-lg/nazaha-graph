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914400"/>
            <a:ext cx="256032" cy="25603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1554480"/>
            <a:ext cx="256032" cy="25603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01168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2651760"/>
            <a:ext cx="256032" cy="25603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3291840"/>
            <a:ext cx="256032" cy="25603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10826496" y="1042416"/>
            <a:ext cx="694944" cy="5120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69296" y="2139696"/>
            <a:ext cx="457200" cy="-585216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69296" y="2139696"/>
            <a:ext cx="969264" cy="512064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09376" y="2779776"/>
            <a:ext cx="-137160" cy="5120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INPPLC · NAZAHATHON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Nazaha-Graph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L'intelligence par graphe contre la corruption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conflits d'intérêts, de la collusion et du fractionnement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marchés publics marocains — par analyse de réseau.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نزاهة-غراف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corruption des marchés publics est massive — et invisible aux contrôles manuels.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 MAD / 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la corruption (3,5–6 % du PIB) — INPPLC,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65576" y="187452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2103120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65576" y="29535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 ·  99ᵉ/180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0168" y="33375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perception (CPI 2024) — −26 places depuis 2018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82512" y="187452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2103120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382512" y="29535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entreprises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33375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Victimes de corruption : licences, marchés, recrutements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99448" y="187452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9448" y="2103120"/>
            <a:ext cx="2670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299448" y="29535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marchés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64040" y="33375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publics examinés (2021) présentant des irrégularités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81888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6177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manuel est linéaire — dossier par dossier.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fraudes réelles sont relationnelles : un lien familial, une entreprise-écran, une rotation entre soumissionnaires. Ces motifs se cachent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dossiers — là où l'œil humain ne regarde jamais.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L'idée &amp; la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fraude est une </a:t>
            </a:r>
            <a:pPr indent="0" marL="0">
              <a:buNone/>
            </a:pPr>
            <a:r>
              <a:rPr lang="en-US" sz="16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Cycles, cliques, chemins cachés : la théorie des graphes les calcule avec précision.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contrôle linéaire…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Tableurs &amp; vérifications dossier-par-dossier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marché jugé isolément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liens entre acteurs restent invisibles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réactive, après le préjudice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…au graphe relationnel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Marchés, entreprises, personnes &amp; autorités = nœuds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familiaux, professionnels, soumissions = arêtes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motifs frauduleux émergent visuellement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559552" cy="402336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057400"/>
            <a:ext cx="4919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Nazaha-Graph rend la fraude visible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23176" y="3429000"/>
            <a:ext cx="173736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0536" y="3611880"/>
            <a:ext cx="1737360" cy="-18288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97896" y="3429000"/>
            <a:ext cx="0" cy="1280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23176" y="3429000"/>
            <a:ext cx="0" cy="1280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4709160"/>
            <a:ext cx="347472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456285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4562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77072" y="3328416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577072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369296" y="3200400"/>
            <a:ext cx="457200" cy="45720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1" name="Text 19"/>
          <p:cNvSpPr/>
          <p:nvPr/>
        </p:nvSpPr>
        <p:spPr>
          <a:xfrm>
            <a:off x="10369296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94576" y="3200400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6894576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69296" y="4480560"/>
            <a:ext cx="457200" cy="45720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9296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94576" y="4480560"/>
            <a:ext cx="457200" cy="45720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5285232"/>
            <a:ext cx="4919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 d'intérêt : l'officiel (gauche) attribue le marché à l'entreprise de son conjoint (droite).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 clé : verdict déterministe, IA en périphérie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autorité anti-corruption, chaque alerte doit être un fait prouvable — pas une probabilité de boîte noire.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8523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67128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Cœur déterministe — NetworkX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46227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de graphe exacts (cycles, cliques, chemins)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flag = un fait reconstituable et explicable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en justice — pas de probabilité opaque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d'entraînement requise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8523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6712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2167128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en périphérie — jamais le verdict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0" y="2971800"/>
            <a:ext cx="446227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: transforme un sous-graphe en briefing FR/AR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d'entités (noms/écritures variables)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(à venir, en appui)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fait du langage, pas du jugement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de jeu de données labellisé de fraudes marocaines confirmées — et un juge a besoin d'une preuve, pas d'un score. Le signal est structurel : la topologie le calcule exactement.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en couches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= la traversée ascendante des couches : données → graphe → détection → restitution.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1554480"/>
            <a:ext cx="365760" cy="10789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0078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INTÉGRATION &amp; DONNÉES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registres publics marocains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86200" y="1554480"/>
            <a:ext cx="757123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marchespublics.gov.ma (TGR)  ·  data.gov.ma (ADD)  ·  OMCP / BDMP  ·  OMPIC / ICE  ·  Registre du Commerce  ·  OCDS  ·  Signalements INPPLC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79776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779776"/>
            <a:ext cx="365760" cy="10789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SYSTÈME &amp; MOTEUR GRAPHE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3467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sécurisé + construction du graphe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86200" y="2779776"/>
            <a:ext cx="757123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RLS)  ·  Ontologie : 4 nœuds / 5 arêtes / 2 vues  ·  graph_loader → NetworkX (DiGraph)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05072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991B1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4005072"/>
            <a:ext cx="365760" cy="1078992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DÉTECTION  (output)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détecteurs déterministes + score de fraude 0–100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4005072"/>
            <a:ext cx="757123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 direct  ·  Conflit familial indirect  ·  Collusion / rotation  ·  Pantouflage  ·  Fractionnement  →  fraud_score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230368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047857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5230368"/>
            <a:ext cx="365760" cy="10789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76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INNOVATION &amp; RESTITUTION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7972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à valeur ajoutée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86200" y="5230368"/>
            <a:ext cx="757123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LLM FR/AR (briefing investigateur)  ·  Résolution d'entités  ·  Graphe interactif  ·  Confidentialité (RLS)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Couche détection : les 5 fraudes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fraude est prouvée par un motif précis du graphe.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566928" cy="5669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55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572768" y="1664208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Conflit d'intérêt direct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72768" y="2048256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Un·e décideur·euse attribue un marché à l'entreprise de son conjoint.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505456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: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: Officiel → conjoint → gérant → entreprise gagnante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481328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755648"/>
            <a:ext cx="566928" cy="5669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755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379208" y="1664208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Conflit familial indirect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79208" y="2048256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L'ordonnateur fait gagner l'entreprise de son frère.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79208" y="2505456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: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2-hop fermé par le lien familial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328416"/>
            <a:ext cx="566928" cy="5669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572768" y="3236976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Collusion / rotation d'offres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572768" y="3621024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« concurrents » soumissionnent toujours ensemble et tournent.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4078224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: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: même trio sur ≥ 2 marchés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054096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3328416"/>
            <a:ext cx="566928" cy="5669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379208" y="3236976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Pantouflage (porte tournante)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379208" y="3621024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ex-fonctionnaire rejoint un privé qui gagne un marché de son ancienne administration.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79208" y="4078224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: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temporel : date_fin &lt; date_embauche &lt; 36 mois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26864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901184"/>
            <a:ext cx="566928" cy="56692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901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572768" y="4809744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Fractionnement de marché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572768" y="5193792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gros marché découpé sous le seuil pour éviter l'appel d'offres.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72768" y="5650992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: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bons de commande &lt; 1M MAD, même couple agence-entreprise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4626864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828032"/>
            <a:ext cx="4645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signaux, un seul moteur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675120" y="5266944"/>
            <a:ext cx="4645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caché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(A, B, D)  +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répété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(C, E) — rendus visibles d'un coup d'œil dans le graphe.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graphe en action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6949440" cy="3657600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379476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794760" y="3794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Insérer la vidéo de démonstration ici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l'écran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29718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scénarios marocains réels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suspects en rouge pulsant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familiaux étiquetés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« fraudes détectées »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&amp; plein écran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pour l'INPPLC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contrôle réactif et manuel à une investigation proactive et explicable.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2286000"/>
            <a:ext cx="822960" cy="82296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6" name="Text 4"/>
          <p:cNvSpPr/>
          <p:nvPr/>
        </p:nvSpPr>
        <p:spPr>
          <a:xfrm>
            <a:off x="1472184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proactive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les réseaux suspects avant le préjudice, à grande échelle.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65576" y="192024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286000"/>
            <a:ext cx="822960" cy="8229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48456" y="32461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Preuves explicables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39896" y="374904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alerte est traçable et reconstituable — admissible en justice.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82512" y="192024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06056" y="2286000"/>
            <a:ext cx="822960" cy="8229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65392" y="32461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 de temps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56832" y="374904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graphe fait en secondes ce qui prend des semaines d'audit manuel.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99448" y="192024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22992" y="2286000"/>
            <a:ext cx="822960" cy="8229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0222992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82328" y="32461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protégées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73768" y="3749040"/>
            <a:ext cx="212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&amp; liens familiaux verrouillés par Row Level Security.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après — feuille de route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déterministe d'abord ; l'IA s'ajoute en couches, sans jamais remplacer la preuve.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697480"/>
            <a:ext cx="896112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aujourd'hui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+ 5 détecteurs déterministes sur données réelles.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2286000"/>
            <a:ext cx="822960" cy="8229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Résolution d'entités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37744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des noms/écritures (FR/AR) variables.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0" y="2286000"/>
            <a:ext cx="822960" cy="8229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Anomalies Node2Vec / GNN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motifs inédits en appui du moteur exact.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43800" y="2286000"/>
            <a:ext cx="822960" cy="82296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Classifieur supervisé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l'INPPLC aura accumulé des cas labellisés.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784080" y="2286000"/>
            <a:ext cx="822960" cy="8229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44000" y="3291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Narration LLM FR/AR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98280" y="39319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investigateur en langage clair, automatique.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· نزاهة-غراف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نزاهة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probité, rendue calculable.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Nazaha-Graph transforme les données ouvertes des marchés publics marocains en preuves de fraude explicables — au service de l'INPPLC.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411480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 &amp; admissible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402336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411480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marocaines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402336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411480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0684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Proactif &amp; à grande échelle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Nazaha-Graph  ·  Nazahathon  ·  INPPLC Maroc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Nazaha-Graph — Nazahathon</dc:title>
  <dc:subject>PptxGenJS Presentation</dc:subject>
  <dc:creator>Équipe Nazaha-Graph</dc:creator>
  <cp:lastModifiedBy>Équipe Nazaha-Graph</cp:lastModifiedBy>
  <cp:revision>1</cp:revision>
  <dcterms:created xsi:type="dcterms:W3CDTF">2026-06-29T17:08:47Z</dcterms:created>
  <dcterms:modified xsi:type="dcterms:W3CDTF">2026-06-29T17:08:47Z</dcterms:modified>
</cp:coreProperties>
</file>